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Atkinson Hyperlegible Next" pitchFamily="2" charset="0"/>
      <p:regular r:id="rId13"/>
    </p:embeddedFont>
    <p:embeddedFont>
      <p:font typeface="Atkinson Hyperlegible Next Bold" panose="020B0604020202020204" charset="0"/>
      <p:regular r:id="rId14"/>
    </p:embeddedFont>
    <p:embeddedFont>
      <p:font typeface="Literata SemiBold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1404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7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58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7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6151" y="518393"/>
            <a:ext cx="6838779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kern="100" spc="144" dirty="0">
                <a:solidFill>
                  <a:srgbClr val="FFFFFF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CUSTOMER SHOPPING BEHAVIOR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1506" y="1269627"/>
            <a:ext cx="6229194" cy="1440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5400" kern="100" spc="-81" dirty="0">
                <a:solidFill>
                  <a:srgbClr val="FFFFFF"/>
                </a:solidFill>
                <a:latin typeface="Literata SemiBold" pitchFamily="34" charset="0"/>
                <a:ea typeface="Literata SemiBold" pitchFamily="34" charset="-122"/>
                <a:cs typeface="Literata SemiBold" pitchFamily="34" charset="-120"/>
              </a:rPr>
              <a:t>Customer</a:t>
            </a:r>
            <a:endParaRPr lang="en-US" sz="5400" dirty="0"/>
          </a:p>
          <a:p>
            <a:pPr marL="0" indent="0" algn="l">
              <a:lnSpc>
                <a:spcPct val="87000"/>
              </a:lnSpc>
              <a:buNone/>
            </a:pPr>
            <a:r>
              <a:rPr lang="en-US" sz="5400" kern="100" spc="-81" dirty="0">
                <a:solidFill>
                  <a:srgbClr val="FFFFFF"/>
                </a:solidFill>
                <a:latin typeface="Literata SemiBold" pitchFamily="34" charset="0"/>
                <a:ea typeface="Literata SemiBold" pitchFamily="34" charset="-122"/>
                <a:cs typeface="Literata SemiBold" pitchFamily="34" charset="-120"/>
              </a:rPr>
              <a:t>shopping behavior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68869" y="3017887"/>
            <a:ext cx="6229194" cy="1215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Turn </a:t>
            </a:r>
            <a:r>
              <a:rPr lang="en-US" sz="2200" b="1" dirty="0">
                <a:solidFill>
                  <a:srgbClr val="E3A54A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3,900 retail transactions</a:t>
            </a:r>
            <a:r>
              <a:rPr lang="en-US" sz="2200" dirty="0">
                <a:solidFill>
                  <a:srgbClr val="FFFFF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 into a focused growth agenda across loyalty, subscriptions, discounts, and product mix.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71506" y="4849614"/>
            <a:ext cx="1557299" cy="50701"/>
          </a:xfrm>
          <a:prstGeom prst="roundRect">
            <a:avLst>
              <a:gd name="adj" fmla="val 49999"/>
            </a:avLst>
          </a:prstGeom>
          <a:solidFill>
            <a:srgbClr val="E3A54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711200"/>
            <a:ext cx="6095848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kern="100" spc="144" dirty="0">
                <a:solidFill>
                  <a:srgbClr val="A8A195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01 · CUSTOMER BASE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11182" y="992485"/>
            <a:ext cx="5486263" cy="1535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600" kern="100" spc="-36" dirty="0">
                <a:solidFill>
                  <a:srgbClr val="EDE6D8"/>
                </a:solidFill>
                <a:latin typeface="Literata SemiBold" pitchFamily="34" charset="0"/>
                <a:ea typeface="Literata SemiBold" pitchFamily="34" charset="-122"/>
                <a:cs typeface="Literata SemiBold" pitchFamily="34" charset="-120"/>
              </a:rPr>
              <a:t>The business has a loyal base, but subscriptions lag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11182" y="2854127"/>
            <a:ext cx="8609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400" dirty="0">
                <a:solidFill>
                  <a:srgbClr val="E3A54A"/>
                </a:solidFill>
                <a:latin typeface="Literata SemiBold" pitchFamily="34" charset="0"/>
                <a:ea typeface="Literata SemiBold" pitchFamily="34" charset="-122"/>
                <a:cs typeface="Literata SemiBold" pitchFamily="34" charset="-120"/>
              </a:rPr>
              <a:t>1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1114893" y="2756991"/>
            <a:ext cx="5082552" cy="349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900" b="1" dirty="0">
                <a:solidFill>
                  <a:srgbClr val="E3A54A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3,900 purchases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11182" y="3937397"/>
            <a:ext cx="8609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400" dirty="0">
                <a:solidFill>
                  <a:srgbClr val="E3A54A"/>
                </a:solidFill>
                <a:latin typeface="Literata SemiBold" pitchFamily="34" charset="0"/>
                <a:ea typeface="Literata SemiBold" pitchFamily="34" charset="-122"/>
                <a:cs typeface="Literata SemiBold" pitchFamily="34" charset="-120"/>
              </a:rPr>
              <a:t>2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114893" y="3840262"/>
            <a:ext cx="5082552" cy="699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900" b="1" dirty="0">
                <a:solidFill>
                  <a:srgbClr val="E3A54A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3,116 loyal customers</a:t>
            </a:r>
            <a:r>
              <a:rPr lang="en-US" sz="1900" dirty="0">
                <a:solidFill>
                  <a:srgbClr val="E4DDC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 vs. 701 returning and 83 new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11182" y="5094288"/>
            <a:ext cx="8609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400" dirty="0">
                <a:solidFill>
                  <a:srgbClr val="E3A54A"/>
                </a:solidFill>
                <a:latin typeface="Literata SemiBold" pitchFamily="34" charset="0"/>
                <a:ea typeface="Literata SemiBold" pitchFamily="34" charset="-122"/>
                <a:cs typeface="Literata SemiBold" pitchFamily="34" charset="-120"/>
              </a:rPr>
              <a:t>3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114893" y="4997152"/>
            <a:ext cx="5082552" cy="349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900" b="1" dirty="0">
                <a:solidFill>
                  <a:srgbClr val="E3A54A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27% subscribe</a:t>
            </a:r>
            <a:r>
              <a:rPr lang="en-US" sz="1900" dirty="0">
                <a:solidFill>
                  <a:srgbClr val="E4DDC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; 73% do not</a:t>
            </a:r>
            <a:endParaRPr lang="en-US" sz="19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8627" y="0"/>
            <a:ext cx="5283068" cy="68580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11182" y="3605312"/>
            <a:ext cx="5486263" cy="12700"/>
          </a:xfrm>
          <a:prstGeom prst="rect">
            <a:avLst/>
          </a:prstGeom>
          <a:solidFill>
            <a:srgbClr val="45413A"/>
          </a:solidFill>
          <a:ln/>
        </p:spPr>
      </p:sp>
      <p:sp>
        <p:nvSpPr>
          <p:cNvPr id="12" name="Shape 9"/>
          <p:cNvSpPr/>
          <p:nvPr/>
        </p:nvSpPr>
        <p:spPr>
          <a:xfrm>
            <a:off x="711182" y="4762202"/>
            <a:ext cx="5486263" cy="12700"/>
          </a:xfrm>
          <a:prstGeom prst="rect">
            <a:avLst/>
          </a:prstGeom>
          <a:solidFill>
            <a:srgbClr val="45413A"/>
          </a:solidFill>
          <a:ln/>
        </p:spPr>
      </p:sp>
      <p:sp>
        <p:nvSpPr>
          <p:cNvPr id="13" name="Text 10"/>
          <p:cNvSpPr/>
          <p:nvPr/>
        </p:nvSpPr>
        <p:spPr>
          <a:xfrm>
            <a:off x="711182" y="6468070"/>
            <a:ext cx="1469889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kern="100" spc="48" dirty="0">
                <a:solidFill>
                  <a:srgbClr val="A8A195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02 / 10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711200"/>
            <a:ext cx="5130672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kern="100" spc="144" dirty="0">
                <a:solidFill>
                  <a:srgbClr val="A8A195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02 · PRODUCT MIX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11182" y="992485"/>
            <a:ext cx="4521087" cy="2047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600" kern="100" spc="-36" dirty="0">
                <a:solidFill>
                  <a:srgbClr val="EDE6D8"/>
                </a:solidFill>
                <a:latin typeface="Literata SemiBold" pitchFamily="34" charset="0"/>
                <a:ea typeface="Literata SemiBold" pitchFamily="34" charset="-122"/>
                <a:cs typeface="Literata SemiBold" pitchFamily="34" charset="-120"/>
              </a:rPr>
              <a:t>Revenue is concentrated in clothing and accessories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11182" y="3278485"/>
            <a:ext cx="4521087" cy="104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900" dirty="0">
                <a:solidFill>
                  <a:srgbClr val="E4DDC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Clothing generates the largest revenue pool, with accessories next; footwear and outerwear are materially smaller.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11182" y="5906790"/>
            <a:ext cx="5130672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kern="100" spc="14" dirty="0">
                <a:solidFill>
                  <a:srgbClr val="A8A195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Revenue by category · USD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9426" y="1638697"/>
            <a:ext cx="4521087" cy="3580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615843" y="6468070"/>
            <a:ext cx="1474155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kern="100" spc="48" dirty="0">
                <a:solidFill>
                  <a:srgbClr val="A8A195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03 / 10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1811536"/>
            <a:ext cx="6453125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kern="100" spc="144" dirty="0">
                <a:solidFill>
                  <a:srgbClr val="A8A195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03 · CUSTOMER COHORTS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11182" y="2092821"/>
            <a:ext cx="6453125" cy="1023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600" kern="100" spc="-36" dirty="0">
                <a:solidFill>
                  <a:srgbClr val="EDE6D8"/>
                </a:solidFill>
                <a:latin typeface="Literata SemiBold" pitchFamily="34" charset="0"/>
                <a:ea typeface="Literata SemiBold" pitchFamily="34" charset="-122"/>
                <a:cs typeface="Literata SemiBold" pitchFamily="34" charset="-120"/>
              </a:rPr>
              <a:t>Young adults are the largest revenue cohort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11182" y="3354884"/>
            <a:ext cx="6453125" cy="699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900" dirty="0">
                <a:solidFill>
                  <a:srgbClr val="E4DDC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Young adults contribute the most revenue, but the four cohorts are relatively close together.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11182" y="4194274"/>
            <a:ext cx="3150315" cy="349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900" b="1" dirty="0">
                <a:solidFill>
                  <a:srgbClr val="E3A54A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Young Adult:</a:t>
            </a:r>
            <a:r>
              <a:rPr lang="en-US" sz="1900" dirty="0">
                <a:solidFill>
                  <a:srgbClr val="E4DDC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 $62K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013893" y="4194274"/>
            <a:ext cx="3150414" cy="349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900" b="1" dirty="0">
                <a:solidFill>
                  <a:srgbClr val="E3A54A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Middle-aged:</a:t>
            </a:r>
            <a:r>
              <a:rPr lang="en-US" sz="1900" dirty="0">
                <a:solidFill>
                  <a:srgbClr val="E4DDC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 $59K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11182" y="4696520"/>
            <a:ext cx="3150315" cy="349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900" b="1" dirty="0">
                <a:solidFill>
                  <a:srgbClr val="E3A54A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Adult:</a:t>
            </a:r>
            <a:r>
              <a:rPr lang="en-US" sz="1900" dirty="0">
                <a:solidFill>
                  <a:srgbClr val="E4DDC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 $56K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013893" y="4696520"/>
            <a:ext cx="3150414" cy="349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900" b="1" dirty="0">
                <a:solidFill>
                  <a:srgbClr val="E3A54A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Senior:</a:t>
            </a:r>
            <a:r>
              <a:rPr lang="en-US" sz="1900" dirty="0">
                <a:solidFill>
                  <a:srgbClr val="E4DDC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 $56K</a:t>
            </a:r>
            <a:endParaRPr lang="en-US" sz="19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9001" y="2036068"/>
            <a:ext cx="4011512" cy="278576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068912" y="6277058"/>
            <a:ext cx="1479910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kern="100" spc="48" dirty="0">
                <a:solidFill>
                  <a:srgbClr val="A8A195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04 / 10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711200"/>
            <a:ext cx="11378915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kern="100" spc="144" dirty="0">
                <a:solidFill>
                  <a:srgbClr val="A8A195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04 · DISCOUNT DEPENDENCE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11182" y="992485"/>
            <a:ext cx="10769331" cy="511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600" kern="100" spc="-36" dirty="0">
                <a:solidFill>
                  <a:srgbClr val="EDE6D8"/>
                </a:solidFill>
                <a:latin typeface="Literata SemiBold" pitchFamily="34" charset="0"/>
                <a:ea typeface="Literata SemiBold" pitchFamily="34" charset="-122"/>
                <a:cs typeface="Literata SemiBold" pitchFamily="34" charset="-120"/>
              </a:rPr>
              <a:t>Discounts are concentrated in a few products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11182" y="1742579"/>
            <a:ext cx="10769331" cy="699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900" dirty="0">
                <a:solidFill>
                  <a:srgbClr val="E4DDC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Hat, sneakers, coat, sweater, and pants have the highest share of discounted purchases, each near half of orders.</a:t>
            </a:r>
            <a:endParaRPr lang="en-US" sz="19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182" y="2620070"/>
            <a:ext cx="10769331" cy="3111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614057" y="6468070"/>
            <a:ext cx="1475941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kern="100" spc="48" dirty="0">
                <a:solidFill>
                  <a:srgbClr val="A8A195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05 / 10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711200"/>
            <a:ext cx="11378915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kern="100" spc="144" dirty="0">
                <a:solidFill>
                  <a:srgbClr val="A8A195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05 · SUBSCRIPTION ECONOMICS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11182" y="992485"/>
            <a:ext cx="10769331" cy="511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600" kern="100" spc="-36" dirty="0">
                <a:solidFill>
                  <a:srgbClr val="EDE6D8"/>
                </a:solidFill>
                <a:latin typeface="Literata SemiBold" pitchFamily="34" charset="0"/>
                <a:ea typeface="Literata SemiBold" pitchFamily="34" charset="-122"/>
                <a:cs typeface="Literata SemiBold" pitchFamily="34" charset="-120"/>
              </a:rPr>
              <a:t>Subscribers spend about the same per purchase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11182" y="1742579"/>
            <a:ext cx="5232269" cy="4404221"/>
          </a:xfrm>
          <a:prstGeom prst="rect">
            <a:avLst/>
          </a:prstGeom>
          <a:solidFill>
            <a:srgbClr val="1D1D22"/>
          </a:solidFill>
          <a:ln/>
          <a:effectLst>
            <a:outerShdw blurRad="303530" dist="127" dir="16200000" algn="bl" rotWithShape="0">
              <a:srgbClr val="E3A54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39776" y="3335139"/>
            <a:ext cx="5003675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kern="100" spc="14" dirty="0">
                <a:solidFill>
                  <a:srgbClr val="E4DDC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AVERAGE SPEND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39776" y="3714849"/>
            <a:ext cx="4775081" cy="839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1000"/>
              </a:lnSpc>
              <a:spcAft>
                <a:spcPts val="1050"/>
              </a:spcAft>
              <a:buNone/>
            </a:pPr>
            <a:r>
              <a:rPr lang="en-US" sz="1900" b="1" dirty="0">
                <a:solidFill>
                  <a:srgbClr val="E4DDCF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$59.49</a:t>
            </a:r>
            <a:r>
              <a:rPr lang="en-US" sz="1900" dirty="0">
                <a:solidFill>
                  <a:srgbClr val="E4DDC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 for subscribers</a:t>
            </a:r>
            <a:endParaRPr lang="en-US" sz="19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900" b="1" dirty="0">
                <a:solidFill>
                  <a:srgbClr val="E4DDCF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$59.87</a:t>
            </a:r>
            <a:r>
              <a:rPr lang="en-US" sz="1900" dirty="0">
                <a:solidFill>
                  <a:srgbClr val="E4DDC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 for non-subscribers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248244" y="1742579"/>
            <a:ext cx="5232269" cy="4404221"/>
          </a:xfrm>
          <a:prstGeom prst="rect">
            <a:avLst/>
          </a:prstGeom>
          <a:solidFill>
            <a:srgbClr val="1D1D22"/>
          </a:solidFill>
          <a:ln/>
          <a:effectLst>
            <a:outerShdw blurRad="303530" dist="127" dir="16200000" algn="bl" rotWithShape="0">
              <a:srgbClr val="E3A54A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76838" y="2782987"/>
            <a:ext cx="477508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E4DDCF"/>
                </a:solidFill>
                <a:latin typeface="Literata SemiBold" pitchFamily="34" charset="0"/>
                <a:ea typeface="Literata SemiBold" pitchFamily="34" charset="-122"/>
                <a:cs typeface="Literata SemiBold" pitchFamily="34" charset="-120"/>
              </a:rPr>
              <a:t>Total revenue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76838" y="3259237"/>
            <a:ext cx="4775081" cy="699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900" b="1" dirty="0">
                <a:solidFill>
                  <a:srgbClr val="E4DDCF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$62.6K</a:t>
            </a:r>
            <a:r>
              <a:rPr lang="en-US" sz="1900" dirty="0">
                <a:solidFill>
                  <a:srgbClr val="E4DDC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 from subscribers vs. </a:t>
            </a:r>
            <a:r>
              <a:rPr lang="en-US" sz="1900" b="1" dirty="0">
                <a:solidFill>
                  <a:srgbClr val="E4DDCF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$170.4K</a:t>
            </a:r>
            <a:r>
              <a:rPr lang="en-US" sz="1900" dirty="0">
                <a:solidFill>
                  <a:srgbClr val="E4DDC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 from non-subscribers.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476838" y="4157365"/>
            <a:ext cx="1193671" cy="50701"/>
          </a:xfrm>
          <a:prstGeom prst="roundRect">
            <a:avLst>
              <a:gd name="adj" fmla="val 49999"/>
            </a:avLst>
          </a:prstGeom>
          <a:solidFill>
            <a:srgbClr val="E3A54A"/>
          </a:solidFill>
          <a:ln/>
        </p:spPr>
      </p:sp>
      <p:sp>
        <p:nvSpPr>
          <p:cNvPr id="11" name="Text 9"/>
          <p:cNvSpPr/>
          <p:nvPr/>
        </p:nvSpPr>
        <p:spPr>
          <a:xfrm>
            <a:off x="6476838" y="4406602"/>
            <a:ext cx="4775081" cy="699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900" dirty="0">
                <a:solidFill>
                  <a:srgbClr val="E4DDC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Subscription is a relationship and retention lever, not yet a higher-basket lever.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0612569" y="6468070"/>
            <a:ext cx="1477429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kern="100" spc="48" dirty="0">
                <a:solidFill>
                  <a:srgbClr val="A8A195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06 / 10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711200"/>
            <a:ext cx="5130672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kern="100" spc="144" dirty="0">
                <a:solidFill>
                  <a:srgbClr val="A8A195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06 · DISCOUNTED CUSTOMERS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11182" y="2124075"/>
            <a:ext cx="4521087" cy="853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6400" kern="100" spc="-96" dirty="0">
                <a:solidFill>
                  <a:srgbClr val="EDE6D8"/>
                </a:solidFill>
                <a:latin typeface="Literata SemiBold" pitchFamily="34" charset="0"/>
                <a:ea typeface="Literata SemiBold" pitchFamily="34" charset="-122"/>
                <a:cs typeface="Literata SemiBold" pitchFamily="34" charset="-120"/>
              </a:rPr>
              <a:t>839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711182" y="3245644"/>
            <a:ext cx="4521087" cy="1215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2200" dirty="0">
                <a:solidFill>
                  <a:srgbClr val="E4DDC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customers used discounts and still spent above the average purchase amount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11182" y="4676874"/>
            <a:ext cx="5130672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kern="100" spc="14" dirty="0">
                <a:solidFill>
                  <a:srgbClr val="A8A195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Average purchase amount: $59.76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48244" y="0"/>
            <a:ext cx="5943451" cy="6858000"/>
          </a:xfrm>
          <a:prstGeom prst="rect">
            <a:avLst/>
          </a:prstGeom>
          <a:solidFill>
            <a:srgbClr val="1D1D22"/>
          </a:solidFill>
          <a:ln/>
          <a:effectLst>
            <a:outerShdw blurRad="303530" dist="127" dir="16200000" algn="bl" rotWithShape="0">
              <a:srgbClr val="E3A54A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959426" y="1761232"/>
            <a:ext cx="4521087" cy="2047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600" kern="100" spc="-36" dirty="0">
                <a:solidFill>
                  <a:srgbClr val="E4DDCF"/>
                </a:solidFill>
                <a:latin typeface="Literata SemiBold" pitchFamily="34" charset="0"/>
                <a:ea typeface="Literata SemiBold" pitchFamily="34" charset="-122"/>
                <a:cs typeface="Literata SemiBold" pitchFamily="34" charset="-120"/>
              </a:rPr>
              <a:t>High-value behavior already exists inside discount usage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6959426" y="4047232"/>
            <a:ext cx="4521087" cy="104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900" dirty="0">
                <a:solidFill>
                  <a:srgbClr val="E4DDC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Keep discounts targeted: reward intent and frequency instead of training every shopper to wait.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0625963" y="6468070"/>
            <a:ext cx="1464035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kern="100" spc="48" dirty="0">
                <a:solidFill>
                  <a:srgbClr val="A8A195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07 / 10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711200"/>
            <a:ext cx="11378915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kern="100" spc="144" dirty="0">
                <a:solidFill>
                  <a:srgbClr val="A8A195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07 · MERCHANDISING SIGNALS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11182" y="992485"/>
            <a:ext cx="10769331" cy="1023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600" kern="100" spc="-36" dirty="0">
                <a:solidFill>
                  <a:srgbClr val="EDE6D8"/>
                </a:solidFill>
                <a:latin typeface="Literata SemiBold" pitchFamily="34" charset="0"/>
                <a:ea typeface="Literata SemiBold" pitchFamily="34" charset="-122"/>
                <a:cs typeface="Literata SemiBold" pitchFamily="34" charset="-120"/>
              </a:rPr>
              <a:t>Product signals point to a sharper merchandising story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11182" y="2194223"/>
            <a:ext cx="1112214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400" dirty="0">
                <a:solidFill>
                  <a:srgbClr val="E3A54A"/>
                </a:solidFill>
                <a:latin typeface="Literata SemiBold" pitchFamily="34" charset="0"/>
                <a:ea typeface="Literata SemiBold" pitchFamily="34" charset="-122"/>
                <a:cs typeface="Literata SemiBold" pitchFamily="34" charset="-120"/>
              </a:rPr>
              <a:t>01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11182" y="2722563"/>
            <a:ext cx="5155972" cy="19050"/>
          </a:xfrm>
          <a:prstGeom prst="rect">
            <a:avLst/>
          </a:prstGeom>
          <a:solidFill>
            <a:srgbClr val="E3A54A"/>
          </a:solidFill>
          <a:ln/>
        </p:spPr>
      </p:sp>
      <p:sp>
        <p:nvSpPr>
          <p:cNvPr id="6" name="Text 4"/>
          <p:cNvSpPr/>
          <p:nvPr/>
        </p:nvSpPr>
        <p:spPr>
          <a:xfrm>
            <a:off x="711182" y="2840038"/>
            <a:ext cx="5156071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dirty="0">
                <a:solidFill>
                  <a:srgbClr val="EDE6D8"/>
                </a:solidFill>
                <a:latin typeface="Literata SemiBold" pitchFamily="34" charset="0"/>
                <a:ea typeface="Literata SemiBold" pitchFamily="34" charset="-122"/>
                <a:cs typeface="Literata SemiBold" pitchFamily="34" charset="-120"/>
              </a:rPr>
              <a:t>Build trust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11182" y="3377208"/>
            <a:ext cx="5156071" cy="699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900" b="1" dirty="0">
                <a:solidFill>
                  <a:srgbClr val="E3A54A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Top-rated:</a:t>
            </a:r>
            <a:r>
              <a:rPr lang="en-US" sz="1900" dirty="0">
                <a:solidFill>
                  <a:srgbClr val="E4DDC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 gloves 3.86, sandals 3.84, boots 3.82, hat 3.80, skirt 3.78.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324442" y="2194223"/>
            <a:ext cx="1112214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400" dirty="0">
                <a:solidFill>
                  <a:srgbClr val="E3A54A"/>
                </a:solidFill>
                <a:latin typeface="Literata SemiBold" pitchFamily="34" charset="0"/>
                <a:ea typeface="Literata SemiBold" pitchFamily="34" charset="-122"/>
                <a:cs typeface="Literata SemiBold" pitchFamily="34" charset="-120"/>
              </a:rPr>
              <a:t>02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6324442" y="2722563"/>
            <a:ext cx="5155972" cy="19050"/>
          </a:xfrm>
          <a:prstGeom prst="rect">
            <a:avLst/>
          </a:prstGeom>
          <a:solidFill>
            <a:srgbClr val="E3A54A"/>
          </a:solidFill>
          <a:ln/>
        </p:spPr>
      </p:sp>
      <p:sp>
        <p:nvSpPr>
          <p:cNvPr id="10" name="Text 8"/>
          <p:cNvSpPr/>
          <p:nvPr/>
        </p:nvSpPr>
        <p:spPr>
          <a:xfrm>
            <a:off x="6324442" y="2840038"/>
            <a:ext cx="5156071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dirty="0">
                <a:solidFill>
                  <a:srgbClr val="EDE6D8"/>
                </a:solidFill>
                <a:latin typeface="Literata SemiBold" pitchFamily="34" charset="0"/>
                <a:ea typeface="Literata SemiBold" pitchFamily="34" charset="-122"/>
                <a:cs typeface="Literata SemiBold" pitchFamily="34" charset="-120"/>
              </a:rPr>
              <a:t>Anchor campaigns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324442" y="3377208"/>
            <a:ext cx="5156071" cy="699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900" b="1" dirty="0">
                <a:solidFill>
                  <a:srgbClr val="E3A54A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Top sellers by category:</a:t>
            </a:r>
            <a:r>
              <a:rPr lang="en-US" sz="1900" dirty="0">
                <a:solidFill>
                  <a:srgbClr val="E4DDC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 jewelry, blouse, sandals, and jacket lead their categories.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11182" y="5906790"/>
            <a:ext cx="11378915" cy="2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kern="100" spc="14" dirty="0">
                <a:solidFill>
                  <a:srgbClr val="A8A195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Use top-rated products to build trust; use best sellers to anchor campaigns.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609890" y="6468070"/>
            <a:ext cx="1480108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kern="100" spc="48" dirty="0">
                <a:solidFill>
                  <a:srgbClr val="A8A195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08 / 10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711200"/>
            <a:ext cx="11378915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kern="100" spc="144" dirty="0">
                <a:solidFill>
                  <a:srgbClr val="A8A195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08 · GROWTH 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11182" y="992485"/>
            <a:ext cx="10769331" cy="511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3000"/>
              </a:lnSpc>
              <a:buNone/>
            </a:pPr>
            <a:r>
              <a:rPr lang="en-US" sz="3600" kern="100" spc="-36" dirty="0">
                <a:solidFill>
                  <a:srgbClr val="EDE6D8"/>
                </a:solidFill>
                <a:latin typeface="Literata SemiBold" pitchFamily="34" charset="0"/>
                <a:ea typeface="Literata SemiBold" pitchFamily="34" charset="-122"/>
                <a:cs typeface="Literata SemiBold" pitchFamily="34" charset="-120"/>
              </a:rPr>
              <a:t>Three moves to improve the economics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11182" y="2526506"/>
            <a:ext cx="1112214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400" dirty="0">
                <a:solidFill>
                  <a:srgbClr val="E3A54A"/>
                </a:solidFill>
                <a:latin typeface="Literata SemiBold" pitchFamily="34" charset="0"/>
                <a:ea typeface="Literata SemiBold" pitchFamily="34" charset="-122"/>
                <a:cs typeface="Literata SemiBold" pitchFamily="34" charset="-120"/>
              </a:rPr>
              <a:t>01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11182" y="3054846"/>
            <a:ext cx="3284852" cy="19050"/>
          </a:xfrm>
          <a:prstGeom prst="rect">
            <a:avLst/>
          </a:prstGeom>
          <a:solidFill>
            <a:srgbClr val="E3A54A"/>
          </a:solidFill>
          <a:ln/>
        </p:spPr>
      </p:sp>
      <p:sp>
        <p:nvSpPr>
          <p:cNvPr id="6" name="Text 4"/>
          <p:cNvSpPr/>
          <p:nvPr/>
        </p:nvSpPr>
        <p:spPr>
          <a:xfrm>
            <a:off x="711182" y="3172321"/>
            <a:ext cx="3284951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dirty="0">
                <a:solidFill>
                  <a:srgbClr val="EDE6D8"/>
                </a:solidFill>
                <a:latin typeface="Literata SemiBold" pitchFamily="34" charset="0"/>
                <a:ea typeface="Literata SemiBold" pitchFamily="34" charset="-122"/>
                <a:cs typeface="Literata SemiBold" pitchFamily="34" charset="-120"/>
              </a:rPr>
              <a:t>Grow subscriptions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11182" y="3709491"/>
            <a:ext cx="3284951" cy="699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900" dirty="0">
                <a:solidFill>
                  <a:srgbClr val="E4DDC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Package exclusive benefits around repeat behavior.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4453322" y="2526506"/>
            <a:ext cx="1112214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400" dirty="0">
                <a:solidFill>
                  <a:srgbClr val="E3A54A"/>
                </a:solidFill>
                <a:latin typeface="Literata SemiBold" pitchFamily="34" charset="0"/>
                <a:ea typeface="Literata SemiBold" pitchFamily="34" charset="-122"/>
                <a:cs typeface="Literata SemiBold" pitchFamily="34" charset="-120"/>
              </a:rPr>
              <a:t>02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4453322" y="3054846"/>
            <a:ext cx="3284852" cy="19050"/>
          </a:xfrm>
          <a:prstGeom prst="rect">
            <a:avLst/>
          </a:prstGeom>
          <a:solidFill>
            <a:srgbClr val="E3A54A"/>
          </a:solidFill>
          <a:ln/>
        </p:spPr>
      </p:sp>
      <p:sp>
        <p:nvSpPr>
          <p:cNvPr id="10" name="Text 8"/>
          <p:cNvSpPr/>
          <p:nvPr/>
        </p:nvSpPr>
        <p:spPr>
          <a:xfrm>
            <a:off x="4453322" y="3172321"/>
            <a:ext cx="3284951" cy="3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dirty="0">
                <a:solidFill>
                  <a:srgbClr val="EDE6D8"/>
                </a:solidFill>
                <a:latin typeface="Literata SemiBold" pitchFamily="34" charset="0"/>
                <a:ea typeface="Literata SemiBold" pitchFamily="34" charset="-122"/>
                <a:cs typeface="Literata SemiBold" pitchFamily="34" charset="-120"/>
              </a:rPr>
              <a:t>Protect margin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453322" y="3709491"/>
            <a:ext cx="3284951" cy="104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900" dirty="0">
                <a:solidFill>
                  <a:srgbClr val="E4DDC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Review discount-heavy products and test narrower offers.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195462" y="2526506"/>
            <a:ext cx="1112214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400" dirty="0">
                <a:solidFill>
                  <a:srgbClr val="E3A54A"/>
                </a:solidFill>
                <a:latin typeface="Literata SemiBold" pitchFamily="34" charset="0"/>
                <a:ea typeface="Literata SemiBold" pitchFamily="34" charset="-122"/>
                <a:cs typeface="Literata SemiBold" pitchFamily="34" charset="-120"/>
              </a:rPr>
              <a:t>03</a:t>
            </a:r>
            <a:endParaRPr lang="en-US" sz="3400" dirty="0"/>
          </a:p>
        </p:txBody>
      </p:sp>
      <p:sp>
        <p:nvSpPr>
          <p:cNvPr id="13" name="Shape 11"/>
          <p:cNvSpPr/>
          <p:nvPr/>
        </p:nvSpPr>
        <p:spPr>
          <a:xfrm>
            <a:off x="8195462" y="3054846"/>
            <a:ext cx="3284852" cy="19050"/>
          </a:xfrm>
          <a:prstGeom prst="rect">
            <a:avLst/>
          </a:prstGeom>
          <a:solidFill>
            <a:srgbClr val="E3A54A"/>
          </a:solidFill>
          <a:ln/>
        </p:spPr>
      </p:sp>
      <p:sp>
        <p:nvSpPr>
          <p:cNvPr id="14" name="Text 12"/>
          <p:cNvSpPr/>
          <p:nvPr/>
        </p:nvSpPr>
        <p:spPr>
          <a:xfrm>
            <a:off x="8195462" y="3172321"/>
            <a:ext cx="3284951" cy="731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dirty="0">
                <a:solidFill>
                  <a:srgbClr val="EDE6D8"/>
                </a:solidFill>
                <a:latin typeface="Literata SemiBold" pitchFamily="34" charset="0"/>
                <a:ea typeface="Literata SemiBold" pitchFamily="34" charset="-122"/>
                <a:cs typeface="Literata SemiBold" pitchFamily="34" charset="-120"/>
              </a:rPr>
              <a:t>Target the right moments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195462" y="4075212"/>
            <a:ext cx="3284951" cy="104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900" dirty="0">
                <a:solidFill>
                  <a:srgbClr val="E4DDC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Focus campaigns on young adults, loyal customers, and express-shipping users.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0612966" y="6468070"/>
            <a:ext cx="1477033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kern="100" spc="48" dirty="0">
                <a:solidFill>
                  <a:srgbClr val="A8A195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09 / 10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182" y="2057797"/>
            <a:ext cx="6278703" cy="182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kern="100" spc="144" dirty="0">
                <a:solidFill>
                  <a:srgbClr val="A8A195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09 · NEXT TEST CYCLE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11182" y="2339082"/>
            <a:ext cx="6278703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400" kern="100" spc="-66" dirty="0">
                <a:solidFill>
                  <a:srgbClr val="EDE6D8"/>
                </a:solidFill>
                <a:latin typeface="Literata SemiBold" pitchFamily="34" charset="0"/>
                <a:ea typeface="Literata SemiBold" pitchFamily="34" charset="-122"/>
                <a:cs typeface="Literata SemiBold" pitchFamily="34" charset="-120"/>
              </a:rPr>
              <a:t>From analysis</a:t>
            </a:r>
            <a:endParaRPr lang="en-US" sz="4400" dirty="0"/>
          </a:p>
          <a:p>
            <a:pPr marL="0" indent="0" algn="l">
              <a:lnSpc>
                <a:spcPct val="87000"/>
              </a:lnSpc>
              <a:buNone/>
            </a:pPr>
            <a:r>
              <a:rPr lang="en-US" sz="4400" kern="100" spc="-66" dirty="0">
                <a:solidFill>
                  <a:srgbClr val="EDE6D8"/>
                </a:solidFill>
                <a:latin typeface="Literata SemiBold" pitchFamily="34" charset="0"/>
                <a:ea typeface="Literata SemiBold" pitchFamily="34" charset="-122"/>
                <a:cs typeface="Literata SemiBold" pitchFamily="34" charset="-120"/>
              </a:rPr>
              <a:t>to action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11182" y="3750568"/>
            <a:ext cx="6278703" cy="104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900" dirty="0">
                <a:solidFill>
                  <a:srgbClr val="E4DDC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Use the dashboard to monitor subscription lift, discount dependence, product mix, and age-cohort revenue as the next test cycle runs.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294578" y="2019399"/>
            <a:ext cx="8609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400" dirty="0">
                <a:solidFill>
                  <a:srgbClr val="E3A54A"/>
                </a:solidFill>
                <a:latin typeface="Literata SemiBold" pitchFamily="34" charset="0"/>
                <a:ea typeface="Literata SemiBold" pitchFamily="34" charset="-122"/>
                <a:cs typeface="Literata SemiBold" pitchFamily="34" charset="-120"/>
              </a:rPr>
              <a:t>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672890" y="1922264"/>
            <a:ext cx="3807523" cy="699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900" b="1" dirty="0">
                <a:solidFill>
                  <a:srgbClr val="E3A54A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Track:</a:t>
            </a:r>
            <a:r>
              <a:rPr lang="en-US" sz="1900" dirty="0">
                <a:solidFill>
                  <a:srgbClr val="E4DDC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 subscription conversion and repeat purchase rate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294578" y="3176290"/>
            <a:ext cx="8609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400" dirty="0">
                <a:solidFill>
                  <a:srgbClr val="E3A54A"/>
                </a:solidFill>
                <a:latin typeface="Literata SemiBold" pitchFamily="34" charset="0"/>
                <a:ea typeface="Literata SemiBold" pitchFamily="34" charset="-122"/>
                <a:cs typeface="Literata SemiBold" pitchFamily="34" charset="-120"/>
              </a:rPr>
              <a:t>2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7672890" y="3079155"/>
            <a:ext cx="3807523" cy="699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900" b="1" dirty="0">
                <a:solidFill>
                  <a:srgbClr val="E3A54A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Test:</a:t>
            </a:r>
            <a:r>
              <a:rPr lang="en-US" sz="1900" dirty="0">
                <a:solidFill>
                  <a:srgbClr val="E4DDC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 benefit-led subscription messaging vs. blanket discounts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294578" y="4333180"/>
            <a:ext cx="8609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3400" dirty="0">
                <a:solidFill>
                  <a:srgbClr val="E3A54A"/>
                </a:solidFill>
                <a:latin typeface="Literata SemiBold" pitchFamily="34" charset="0"/>
                <a:ea typeface="Literata SemiBold" pitchFamily="34" charset="-122"/>
                <a:cs typeface="Literata SemiBold" pitchFamily="34" charset="-120"/>
              </a:rPr>
              <a:t>3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672890" y="4236045"/>
            <a:ext cx="3807523" cy="699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900" b="1" dirty="0">
                <a:solidFill>
                  <a:srgbClr val="E3A54A"/>
                </a:solidFill>
                <a:latin typeface="Atkinson Hyperlegible Next Bold" pitchFamily="34" charset="0"/>
                <a:ea typeface="Atkinson Hyperlegible Next Bold" pitchFamily="34" charset="-122"/>
                <a:cs typeface="Atkinson Hyperlegible Next Bold" pitchFamily="34" charset="-120"/>
              </a:rPr>
              <a:t>Scale:</a:t>
            </a:r>
            <a:r>
              <a:rPr lang="en-US" sz="1900" dirty="0">
                <a:solidFill>
                  <a:srgbClr val="E4DDCF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 campaigns that pair high-rated products with loyal segments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7294578" y="2844205"/>
            <a:ext cx="4185835" cy="12700"/>
          </a:xfrm>
          <a:prstGeom prst="rect">
            <a:avLst/>
          </a:prstGeom>
          <a:solidFill>
            <a:srgbClr val="45413A"/>
          </a:solidFill>
          <a:ln/>
        </p:spPr>
      </p:sp>
      <p:sp>
        <p:nvSpPr>
          <p:cNvPr id="12" name="Shape 10"/>
          <p:cNvSpPr/>
          <p:nvPr/>
        </p:nvSpPr>
        <p:spPr>
          <a:xfrm>
            <a:off x="7294578" y="4001095"/>
            <a:ext cx="4185835" cy="12700"/>
          </a:xfrm>
          <a:prstGeom prst="rect">
            <a:avLst/>
          </a:prstGeom>
          <a:solidFill>
            <a:srgbClr val="45413A"/>
          </a:solidFill>
          <a:ln/>
        </p:spPr>
      </p:sp>
      <p:sp>
        <p:nvSpPr>
          <p:cNvPr id="13" name="Text 11"/>
          <p:cNvSpPr/>
          <p:nvPr/>
        </p:nvSpPr>
        <p:spPr>
          <a:xfrm>
            <a:off x="10641639" y="6468070"/>
            <a:ext cx="1448359" cy="2209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00" kern="100" spc="48" dirty="0">
                <a:solidFill>
                  <a:srgbClr val="A8A195"/>
                </a:solidFill>
                <a:latin typeface="Atkinson Hyperlegible Next" pitchFamily="34" charset="0"/>
                <a:ea typeface="Atkinson Hyperlegible Next" pitchFamily="34" charset="-122"/>
                <a:cs typeface="Atkinson Hyperlegible Next" pitchFamily="34" charset="-120"/>
              </a:rPr>
              <a:t>10 / 10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484</Words>
  <Application>Microsoft Office PowerPoint</Application>
  <PresentationFormat>Widescreen</PresentationFormat>
  <Paragraphs>89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Literata SemiBold</vt:lpstr>
      <vt:lpstr>Arial</vt:lpstr>
      <vt:lpstr>Atkinson Hyperlegible Next</vt:lpstr>
      <vt:lpstr>Atkinson Hyperlegible Next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win 10</dc:creator>
  <cp:lastModifiedBy>nimratnoor singh randhawa</cp:lastModifiedBy>
  <cp:revision>2</cp:revision>
  <dcterms:created xsi:type="dcterms:W3CDTF">2026-10-02T08:38:21Z</dcterms:created>
  <dcterms:modified xsi:type="dcterms:W3CDTF">2026-10-02T08:44:57Z</dcterms:modified>
</cp:coreProperties>
</file>